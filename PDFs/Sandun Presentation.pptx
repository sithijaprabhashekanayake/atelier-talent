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2" d="100"/>
          <a:sy n="92" d="100"/>
        </p:scale>
        <p:origin x="33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26431-71E2-462E-B9E9-661211596E10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ECB1B-AC3E-4AC3-BC9A-F269B1D77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ECB1B-AC3E-4AC3-BC9A-F269B1D776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7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B15C-B677-71AC-4BC5-9D816D4A9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23E80-71D0-F127-622D-C6960D3D7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36D71-B05B-0F8F-098F-47E23635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BE2FE-70E4-9408-D911-E28BC24F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A8E6F-6DF6-01BC-3EF0-D273B771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94D1-19AE-DF53-3EFF-19C77AA5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3BC81-E25E-F7E7-CF62-EAA1211D9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4D67F-B5E2-B9A8-D479-CF6E74CA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F957E-420D-7A16-8081-B39259BE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02EC-0C4A-1617-D1A4-B1E0F8C0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85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506F-E570-180B-E144-A9B343C3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5D8D4-3FCF-B5CB-E16A-832688B99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9F9FC-3055-3E6E-69E4-ED5DD96A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D8B2C-DC6F-3CF6-C514-5E42D810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C894B-EADA-1826-7E88-0FC24504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7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A79C-39EB-64FD-E245-DFDABAAF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2E7F1-9FFB-602B-F4E5-DD1147588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85243-FB2A-E8F6-87DC-C6F217A28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C481-AA99-7904-B012-90B82A26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7936-CD59-DB11-2509-83D2A74D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0EBEA-24E2-E9EB-761B-9EEA65ED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8E6E-74AA-AAD3-EDA8-283BE11C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24046-B770-C6FE-1751-0080B3CB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66CB6-D2AB-29B0-ED06-FE7E9B0C4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75CC6-1571-C850-19CC-CAF4338BE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73265-067C-A607-B301-908E47E8A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ED601-929F-115D-BC74-36FF7984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90306-E250-0506-DA5E-3F0A88162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1C82E-2E30-7190-3D5C-11C99AA7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1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8F7E-2528-98AE-0B4A-33B14C37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E4C14-D76F-EDCD-D6A6-31CD46FBB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A325D-8F4B-87EA-711F-E0466164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9A3FB-9D64-605A-133D-105B8293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8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82104-6D32-D082-E82F-79148998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E0C58-9A18-FFF0-438D-3E2A3128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D171F-FAA8-5C8C-A8B4-5C795C72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8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330B-97EA-5B10-898E-897ACCA7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31D98-037A-6637-EE90-46021901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57443-AFB7-A0A1-95F0-359906806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0FEB6-B3FE-5E2E-B209-D655C11B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78B3D-0B55-6F83-48C8-EDC042AC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7B84D-7795-8B7B-65F1-480FC318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6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773B-B182-7ED5-C4BC-9A59FD5A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B38DB5-6354-5239-96D8-E69080EDE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74F3A-5644-2015-E81F-15B8A9D08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BD121-35C3-B1D3-20C5-B5DAAF84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760BE-22D5-15A5-3E0D-E2108704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281F6-7C4A-1C75-DB34-745FDC42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938B-3F43-A96C-375B-1423017F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5432E-B21E-D7BF-AEEC-225BE2A41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6D5D4-86C4-CE3D-1174-E317F3C2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C34BF-3C11-FFCF-A2AE-9488FE7C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D72AB-96BD-1136-810A-70CE7863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8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9F853-CAC0-145C-DCF7-649B08541C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EB7D5-7E17-6332-8F0B-D9142CFAA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92D6D-790C-BD5F-2411-592BC2C0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795D9-CC0C-9AE5-34D7-C6F6A323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FE4E-5868-3C81-7D77-25CBC307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13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453C51-866E-4728-635F-5F355FB2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C9C73-A2E6-8890-B12B-A947824C1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5457C-2F9B-AAD1-8441-427296A0B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3F9D7-20B3-4176-B080-BF0A7860A689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C8D8B-C261-8CA4-E1C9-D2C57B547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7E926-7F4F-C16D-8BA9-144F55F9D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6688D-9FC8-4387-9FB3-3EB556534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3D26D-EAAB-725F-A590-C9F32AED0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Global Multidimensional Talent Marketplace and Casting Management</a:t>
            </a:r>
            <a:b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</a:b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System.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106E5-CD27-AD17-FF75-C90379D1F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420808" cy="310667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A unified ecosystem for Models, Industry Professionals, and Pageant Hosts.</a:t>
            </a:r>
          </a:p>
          <a:p>
            <a:r>
              <a:rPr lang="en-US" sz="2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Sandun </a:t>
            </a:r>
            <a:r>
              <a:rPr lang="en-US" sz="2000" dirty="0">
                <a:latin typeface="Bahnschrift SemiBold" panose="020B0502040204020203" pitchFamily="34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rabath 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28607</a:t>
            </a:r>
            <a:endParaRPr lang="en-US" sz="2000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Bsc</a:t>
            </a:r>
            <a:r>
              <a:rPr lang="en-US" sz="2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 in software Engineering.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Ms. Lakni Peiris </a:t>
            </a:r>
          </a:p>
          <a:p>
            <a:r>
              <a:rPr lang="en-US" sz="2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2026.02.25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6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A19B-DEE5-0294-4860-0AD8E11B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2" y="248747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DDD56-A54C-5352-0D17-09B57A27D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571" y="1509742"/>
            <a:ext cx="10515600" cy="47331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Background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Justification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Question/s and Objective/s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Significance of the Study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Review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Methodology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 and analysis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the study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 of the study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Timeline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</a:p>
          <a:p>
            <a:pPr marL="0" indent="0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591727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16A8-1607-1E77-10AB-C1B94209A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3844"/>
            <a:ext cx="7794567" cy="73983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Background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18B578-1409-3522-BB67-23CCA9F27B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0081" y="1343677"/>
            <a:ext cx="1064029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advancement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and Communication Technology (ICT)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transformed global creative industries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Fashion, film, pageantry, and entertainment increasingly rely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platforms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recruitment and visibility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 this growth, many regions still depend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fragmented, informal social media networks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Freelance models and creative talent face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professional exposure and verification challenges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9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A760F-55A6-8805-E0C3-9C3F7836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5362-CEF1-895E-51CE-DF14171B3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011" y="150142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 dirty="0">
                <a:latin typeface="Arial" panose="020B0604020202020204" pitchFamily="34" charset="0"/>
              </a:rPr>
              <a:t>Recruiters struggle with </a:t>
            </a:r>
            <a:r>
              <a:rPr lang="en-US" altLang="en-US" sz="2600" b="1" dirty="0">
                <a:latin typeface="Arial" panose="020B0604020202020204" pitchFamily="34" charset="0"/>
              </a:rPr>
              <a:t>fraudulent profiles, inefficient talent scouting, and high administrative workload</a:t>
            </a:r>
            <a:endParaRPr lang="en-US" altLang="en-US" sz="2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 dirty="0">
                <a:latin typeface="Arial" panose="020B0604020202020204" pitchFamily="34" charset="0"/>
              </a:rPr>
              <a:t>Existing platforms are often </a:t>
            </a:r>
            <a:r>
              <a:rPr lang="en-US" altLang="en-US" sz="2600" b="1" dirty="0">
                <a:latin typeface="Arial" panose="020B0604020202020204" pitchFamily="34" charset="0"/>
              </a:rPr>
              <a:t>agency-restricted or region-specific</a:t>
            </a:r>
            <a:r>
              <a:rPr lang="en-US" altLang="en-US" sz="2600" dirty="0">
                <a:latin typeface="Arial" panose="020B0604020202020204" pitchFamily="34" charset="0"/>
              </a:rPr>
              <a:t>, excluding independent talent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 dirty="0">
                <a:latin typeface="Arial" panose="020B0604020202020204" pitchFamily="34" charset="0"/>
              </a:rPr>
              <a:t>There is a growing need for a </a:t>
            </a:r>
            <a:r>
              <a:rPr lang="en-US" altLang="en-US" sz="2600" b="1" dirty="0">
                <a:latin typeface="Arial" panose="020B0604020202020204" pitchFamily="34" charset="0"/>
              </a:rPr>
              <a:t>secure, centralized, and globally accessible digital ecosystem</a:t>
            </a:r>
            <a:endParaRPr lang="en-US" altLang="en-US" sz="2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 dirty="0">
                <a:latin typeface="Arial" panose="020B0604020202020204" pitchFamily="34" charset="0"/>
              </a:rPr>
              <a:t>This study responds to the </a:t>
            </a:r>
            <a:r>
              <a:rPr lang="en-US" altLang="en-US" sz="2600" b="1" dirty="0">
                <a:latin typeface="Arial" panose="020B0604020202020204" pitchFamily="34" charset="0"/>
              </a:rPr>
              <a:t>trust gap and accessibility issues</a:t>
            </a:r>
            <a:r>
              <a:rPr lang="en-US" altLang="en-US" sz="2600" dirty="0">
                <a:latin typeface="Arial" panose="020B0604020202020204" pitchFamily="34" charset="0"/>
              </a:rPr>
              <a:t> in current creative industry recruitment systems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959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9843-9CCC-34A0-B215-F20759D7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894" y="141819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Justification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F029B79-D988-6300-4E2B-7524EE45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389" y="1284502"/>
            <a:ext cx="1132331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Focus: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Multidimensional Talent Marketplace and Casting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centralized, secure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connecting freelance models, creative talent, and recruiters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systems are fragmented, agency-focused, and often unreliable, making talent discovery and verification difficult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83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EFCB-987E-8F7B-A228-F1ADFD61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Justification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531B4F-452B-6A99-1D3B-8E36897A5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230240"/>
              </p:ext>
            </p:extLst>
          </p:nvPr>
        </p:nvGraphicFramePr>
        <p:xfrm>
          <a:off x="581891" y="2011680"/>
          <a:ext cx="10663845" cy="3519155"/>
        </p:xfrm>
        <a:graphic>
          <a:graphicData uri="http://schemas.openxmlformats.org/drawingml/2006/table">
            <a:tbl>
              <a:tblPr/>
              <a:tblGrid>
                <a:gridCol w="3554615">
                  <a:extLst>
                    <a:ext uri="{9D8B030D-6E8A-4147-A177-3AD203B41FA5}">
                      <a16:colId xmlns:a16="http://schemas.microsoft.com/office/drawing/2014/main" val="3871539425"/>
                    </a:ext>
                  </a:extLst>
                </a:gridCol>
                <a:gridCol w="3554615">
                  <a:extLst>
                    <a:ext uri="{9D8B030D-6E8A-4147-A177-3AD203B41FA5}">
                      <a16:colId xmlns:a16="http://schemas.microsoft.com/office/drawing/2014/main" val="932004442"/>
                    </a:ext>
                  </a:extLst>
                </a:gridCol>
                <a:gridCol w="3554615">
                  <a:extLst>
                    <a:ext uri="{9D8B030D-6E8A-4147-A177-3AD203B41FA5}">
                      <a16:colId xmlns:a16="http://schemas.microsoft.com/office/drawing/2014/main" val="244227181"/>
                    </a:ext>
                  </a:extLst>
                </a:gridCol>
              </a:tblGrid>
              <a:tr h="439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Situation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/ Problem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402873"/>
                  </a:ext>
                </a:extLst>
              </a:tr>
              <a:tr h="769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Fragmented Platforms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Talent and recruiters use scattered social 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 to find verified talent, slow casting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065046"/>
                  </a:ext>
                </a:extLst>
              </a:tr>
              <a:tr h="769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Fake Profiles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Unverified social media 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Recruiters risk fraud; models’ credibility affected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345269"/>
                  </a:ext>
                </a:extLst>
              </a:tr>
              <a:tr h="769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 platforms are agency or region-specific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Independent talent gets excluded from opportunities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038844"/>
                  </a:ext>
                </a:extLst>
              </a:tr>
              <a:tr h="769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Admin Workload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Recruiters manually check profiles and portfolios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Inefficient and time-consuming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84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175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FBBB-2983-15A8-5635-7AC2FAC11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447" y="0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Question/s and Objective/s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4A1C6-68BC-9949-FEFB-A1EFAC747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447" y="1427898"/>
            <a:ext cx="10515600" cy="4598829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research question of this study is:</a:t>
            </a:r>
          </a:p>
          <a:p>
            <a:r>
              <a:rPr lang="en-US" b="1" dirty="0"/>
              <a:t>How can a secure and centralized digital platform improve visibility, verification, and access for freelance models and creative talent while making recruitment more efficient for recruiters globally?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aims of this study are:</a:t>
            </a:r>
          </a:p>
          <a:p>
            <a:r>
              <a:rPr lang="en-US" dirty="0"/>
              <a:t>To design a </a:t>
            </a:r>
            <a:r>
              <a:rPr lang="en-US" b="1" dirty="0"/>
              <a:t>centralized platform</a:t>
            </a:r>
            <a:r>
              <a:rPr lang="en-US" dirty="0"/>
              <a:t> for models, creative talent, and recruiters</a:t>
            </a:r>
          </a:p>
          <a:p>
            <a:r>
              <a:rPr lang="en-US" dirty="0"/>
              <a:t>To ensure </a:t>
            </a:r>
            <a:r>
              <a:rPr lang="en-US" b="1" dirty="0"/>
              <a:t>talent verification and secure profiles</a:t>
            </a:r>
            <a:r>
              <a:rPr lang="en-US" dirty="0"/>
              <a:t> to reduce fraud</a:t>
            </a:r>
          </a:p>
          <a:p>
            <a:r>
              <a:rPr lang="en-US" dirty="0"/>
              <a:t>To improve </a:t>
            </a:r>
            <a:r>
              <a:rPr lang="en-US" b="1" dirty="0"/>
              <a:t>accessibility and visibility</a:t>
            </a:r>
            <a:r>
              <a:rPr lang="en-US" dirty="0"/>
              <a:t> of freelance talent worldwide</a:t>
            </a:r>
          </a:p>
          <a:p>
            <a:r>
              <a:rPr lang="en-US" dirty="0"/>
              <a:t>To make the </a:t>
            </a:r>
            <a:r>
              <a:rPr lang="en-US" b="1" dirty="0"/>
              <a:t>talent discovery and recruitment process efficient</a:t>
            </a:r>
            <a:r>
              <a:rPr lang="en-US" dirty="0"/>
              <a:t> and reliable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5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E07D-5195-0E97-4EFD-9015D263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78" y="0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Significance of the Study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7BF0-CFED-6E05-3E91-A001E6B61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78" y="330273"/>
            <a:ext cx="10515600" cy="613702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central platform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models, creative talent, and recruiters worldwide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freelance talent gain visibility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verified professional profiles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fraud and fake profiles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increasing trust in recruitment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casting and talent selection faster and easier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Bridges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geographical gaps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allowing global collaboration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industry growth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connecting more talent with opportunities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8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CF1D-3A20-DB47-9E75-76B5063F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85" y="-170700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Review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D0E74-3327-8AAE-C40E-52C304348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85" y="1351799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Social media is widely used for talent discovery, but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unverified profiles and fragmented systems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create trust issues (Lee, 2019)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ICT has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transformed creative industries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improving accessibility and efficiency (Smith &amp; Johnson, 2020)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Existing talent platforms are often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agency-only or region-specific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limiting freelance access (Kumar &amp; Singh, 2021)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Verification systems improve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credibility and trust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both talent and recruiters (Garcia, 2018)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Takeaway: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Platforms exist but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lack global reach, verification, and inclusivity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81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9CA5-7F81-4A4D-8437-40FFDD9D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942" y="-75450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Review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E478DC-18AB-E8C1-BE13-3E88F89ED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942" y="1001871"/>
            <a:ext cx="1096587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identified in literature: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and fake profiles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access for independent talent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recruitment processes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Geographical fragmentation (Adams et al., 2022; Chen, 2020)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secure, centralized, globally accessible platform exists for freelance creative talent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study addresses: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Talent verification and trust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accessibility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and reliable recruitment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788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5FFD-06CA-A556-DC25-7071D6F0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61577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Methodology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9BC0D-B39B-C3C7-6FD8-CA2385133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327" y="1363287"/>
            <a:ext cx="5479473" cy="4813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Research Approach: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Mixed-Method</a:t>
            </a:r>
            <a:r>
              <a:rPr lang="en-US" sz="2000" dirty="0"/>
              <a:t> (Quantitative + Qualitative)</a:t>
            </a:r>
          </a:p>
          <a:p>
            <a:pPr lvl="1"/>
            <a:r>
              <a:rPr lang="en-US" sz="1800" dirty="0"/>
              <a:t>Quantitative: Surveys, analytics</a:t>
            </a:r>
          </a:p>
          <a:p>
            <a:pPr lvl="1"/>
            <a:r>
              <a:rPr lang="en-US" sz="1800" dirty="0"/>
              <a:t>Qualitative: Interviews, focus groups</a:t>
            </a:r>
          </a:p>
          <a:p>
            <a:pPr marL="0" indent="0">
              <a:buNone/>
            </a:pPr>
            <a:r>
              <a:rPr lang="en-US" sz="2000" b="1" dirty="0"/>
              <a:t>Types of Data:</a:t>
            </a:r>
            <a:endParaRPr lang="en-US" sz="2000" dirty="0"/>
          </a:p>
          <a:p>
            <a:r>
              <a:rPr lang="en-US" sz="2000" b="1" dirty="0"/>
              <a:t>Primary Data:</a:t>
            </a:r>
            <a:r>
              <a:rPr lang="en-US" sz="2000" dirty="0"/>
              <a:t> Surveys, interviews, user testing, observations</a:t>
            </a:r>
          </a:p>
          <a:p>
            <a:r>
              <a:rPr lang="en-US" sz="2000" b="1" dirty="0"/>
              <a:t>Secondary Data:</a:t>
            </a:r>
            <a:r>
              <a:rPr lang="en-US" sz="2000" dirty="0"/>
              <a:t> Articles, industry reports, </a:t>
            </a:r>
            <a:r>
              <a:rPr lang="en-US" sz="2300" dirty="0"/>
              <a:t>online platform analytics</a:t>
            </a:r>
          </a:p>
          <a:p>
            <a:pPr marL="0" indent="0">
              <a:buNone/>
            </a:pPr>
            <a:r>
              <a:rPr lang="en-US" sz="1900" b="1" dirty="0"/>
              <a:t>Sources of Data:</a:t>
            </a:r>
            <a:endParaRPr lang="en-US" sz="1900" dirty="0"/>
          </a:p>
          <a:p>
            <a:r>
              <a:rPr lang="en-US" sz="1900" dirty="0"/>
              <a:t>Freelance models &amp; creative talent</a:t>
            </a:r>
          </a:p>
          <a:p>
            <a:r>
              <a:rPr lang="en-US" sz="1900" dirty="0"/>
              <a:t>Recruiters &amp; agencies</a:t>
            </a:r>
          </a:p>
          <a:p>
            <a:r>
              <a:rPr lang="en-US" sz="1900" dirty="0"/>
              <a:t>Platform users &amp; industry experts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442C2-E7BD-9F9E-767B-508E87B29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63287"/>
            <a:ext cx="5257800" cy="4813676"/>
          </a:xfrm>
        </p:spPr>
        <p:txBody>
          <a:bodyPr>
            <a:normAutofit/>
          </a:bodyPr>
          <a:lstStyle/>
          <a:p>
            <a:r>
              <a:rPr lang="en-US" sz="2000" b="1" dirty="0"/>
              <a:t>Conceptual Framework:</a:t>
            </a:r>
            <a:endParaRPr lang="en-US" sz="2000" dirty="0"/>
          </a:p>
          <a:p>
            <a:r>
              <a:rPr lang="en-US" sz="2000" b="1" dirty="0"/>
              <a:t>Independent Variables:</a:t>
            </a:r>
            <a:r>
              <a:rPr lang="en-US" sz="2000" dirty="0"/>
              <a:t> Verification, Accessibility, Usability, Global Reach</a:t>
            </a:r>
          </a:p>
          <a:p>
            <a:r>
              <a:rPr lang="en-US" sz="2000" b="1" dirty="0"/>
              <a:t>Dependent Variables:</a:t>
            </a:r>
            <a:r>
              <a:rPr lang="en-US" sz="2000" dirty="0"/>
              <a:t> Talent Visibility, Recruitment Efficiency, User Trust</a:t>
            </a:r>
          </a:p>
          <a:p>
            <a:r>
              <a:rPr lang="en-US" sz="2000" b="1" dirty="0"/>
              <a:t>Outcome:</a:t>
            </a:r>
            <a:r>
              <a:rPr lang="en-US" sz="2000" dirty="0"/>
              <a:t> Successful Talent Matching</a:t>
            </a:r>
          </a:p>
          <a:p>
            <a:r>
              <a:rPr lang="en-US" sz="2000" b="1" dirty="0"/>
              <a:t>Hypotheses:</a:t>
            </a:r>
            <a:endParaRPr lang="en-US" sz="2000" dirty="0"/>
          </a:p>
          <a:p>
            <a:r>
              <a:rPr lang="en-US" sz="2000" dirty="0"/>
              <a:t>H1: Verification → Increased Trust</a:t>
            </a:r>
          </a:p>
          <a:p>
            <a:r>
              <a:rPr lang="en-US" sz="2000" dirty="0"/>
              <a:t>H2: Global Access → Increased Visibility</a:t>
            </a:r>
          </a:p>
          <a:p>
            <a:r>
              <a:rPr lang="en-US" sz="2000" dirty="0"/>
              <a:t>H3: Usability → Improved Recruitment Efficiency</a:t>
            </a:r>
          </a:p>
          <a:p>
            <a:r>
              <a:rPr lang="en-US" sz="2000" dirty="0"/>
              <a:t>H4: Centralized Platform → Better Talent Matching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5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0BBDC-1F52-E22E-7D1E-9940D90A1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-386225"/>
            <a:ext cx="10515600" cy="1325563"/>
          </a:xfrm>
        </p:spPr>
        <p:txBody>
          <a:bodyPr/>
          <a:lstStyle/>
          <a:p>
            <a:r>
              <a:rPr lang="en-US" b="1" dirty="0"/>
              <a:t>Data collection and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D09D-4FD4-41FF-DFF6-6E9C87CD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571" y="769909"/>
            <a:ext cx="9851968" cy="5456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Population and Sample</a:t>
            </a:r>
          </a:p>
          <a:p>
            <a:r>
              <a:rPr lang="en-US" sz="2000" dirty="0"/>
              <a:t>The study focuses on a selected group relevant to the research topic. A sample will be chosen using an appropriate sampling method. Only participants who meet the study criteria will be included.</a:t>
            </a:r>
          </a:p>
          <a:p>
            <a:pPr marL="0" indent="0">
              <a:buNone/>
            </a:pPr>
            <a:r>
              <a:rPr lang="en-US" sz="2000" b="1" dirty="0"/>
              <a:t>Data Collection Method</a:t>
            </a:r>
          </a:p>
          <a:p>
            <a:r>
              <a:rPr lang="en-US" sz="2000" dirty="0"/>
              <a:t>Data will be collected using </a:t>
            </a:r>
            <a:r>
              <a:rPr lang="en-US" sz="2000" b="1" dirty="0"/>
              <a:t>surveys / interviews</a:t>
            </a:r>
            <a:r>
              <a:rPr lang="en-US" sz="2000" dirty="0"/>
              <a:t> with a structured questionnaire or interview guide.</a:t>
            </a:r>
          </a:p>
          <a:p>
            <a:pPr marL="0" indent="0">
              <a:buNone/>
            </a:pPr>
            <a:r>
              <a:rPr lang="en-US" sz="2000" b="1" dirty="0"/>
              <a:t>Procedure</a:t>
            </a:r>
          </a:p>
          <a:p>
            <a:r>
              <a:rPr lang="en-US" sz="2000" dirty="0"/>
              <a:t>Participants will be selected, informed consent will be obtained, and data will be collected within a set time period.</a:t>
            </a:r>
          </a:p>
          <a:p>
            <a:pPr marL="0" indent="0">
              <a:buNone/>
            </a:pPr>
            <a:r>
              <a:rPr lang="en-US" sz="2000" b="1" dirty="0"/>
              <a:t>Data Analysis Method</a:t>
            </a:r>
          </a:p>
          <a:p>
            <a:r>
              <a:rPr lang="en-US" sz="2000" dirty="0"/>
              <a:t>Data will be analyzed using </a:t>
            </a:r>
            <a:r>
              <a:rPr lang="en-US" sz="2000" b="1" dirty="0"/>
              <a:t>statistical or thematic analysis</a:t>
            </a:r>
            <a:r>
              <a:rPr lang="en-US" sz="2000" dirty="0"/>
              <a:t>, with the support of software such as </a:t>
            </a:r>
            <a:r>
              <a:rPr lang="en-US" sz="2000" b="1" dirty="0"/>
              <a:t>Excel or SPSS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2132-53A7-5AA9-5585-B9CB1AFB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90805"/>
            <a:ext cx="10515600" cy="13255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the study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BD64-0E42-1A36-3062-3E28A5355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611" y="1301923"/>
            <a:ext cx="10741429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Scope of the Study (In-Scope / Out-of-Scope)</a:t>
            </a:r>
          </a:p>
          <a:p>
            <a:pPr marL="0" indent="0">
              <a:buNone/>
            </a:pPr>
            <a:r>
              <a:rPr lang="en-US" b="1" dirty="0"/>
              <a:t>In-Scope</a:t>
            </a:r>
          </a:p>
          <a:p>
            <a:r>
              <a:rPr lang="en-US" dirty="0"/>
              <a:t>Participants who are directly relevant to the research topic</a:t>
            </a:r>
          </a:p>
          <a:p>
            <a:r>
              <a:rPr lang="en-US" dirty="0"/>
              <a:t>A limited sample size as defined by the study design</a:t>
            </a:r>
          </a:p>
          <a:p>
            <a:r>
              <a:rPr lang="en-US" dirty="0"/>
              <a:t>Participants from a specific geographical location</a:t>
            </a:r>
          </a:p>
          <a:p>
            <a:r>
              <a:rPr lang="en-US" dirty="0"/>
              <a:t>Data collected within the defined study period</a:t>
            </a:r>
          </a:p>
          <a:p>
            <a:pPr marL="0" indent="0">
              <a:buNone/>
            </a:pPr>
            <a:r>
              <a:rPr lang="en-US" b="1" dirty="0"/>
              <a:t>Out-of-Scope</a:t>
            </a:r>
          </a:p>
          <a:p>
            <a:r>
              <a:rPr lang="en-US" dirty="0"/>
              <a:t>Individuals outside the selected geographical location</a:t>
            </a:r>
          </a:p>
          <a:p>
            <a:r>
              <a:rPr lang="en-US" dirty="0"/>
              <a:t>Participants who do not meet the inclusion criteria</a:t>
            </a:r>
          </a:p>
          <a:p>
            <a:r>
              <a:rPr lang="en-US" dirty="0"/>
              <a:t>Broader populations beyond the selected sample</a:t>
            </a:r>
          </a:p>
          <a:p>
            <a:r>
              <a:rPr lang="en-US" dirty="0"/>
              <a:t>Data collected outside the specified timeframe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5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ADFE-012C-D18A-FAB4-D4487975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Limitations of the study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D43929-5163-6676-23E3-E6A91CF983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1822" y="1512713"/>
            <a:ext cx="10400607" cy="369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sample size reduces generalizability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selected geographical regions only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self-reported survey and interview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and resource constraints limit full system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140104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1008-6EFD-7318-1093-413834A2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B063BC-2327-E809-1099-413523FD9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546872"/>
              </p:ext>
            </p:extLst>
          </p:nvPr>
        </p:nvGraphicFramePr>
        <p:xfrm>
          <a:off x="838199" y="1716865"/>
          <a:ext cx="10649990" cy="4384678"/>
        </p:xfrm>
        <a:graphic>
          <a:graphicData uri="http://schemas.openxmlformats.org/drawingml/2006/table">
            <a:tbl>
              <a:tblPr/>
              <a:tblGrid>
                <a:gridCol w="1123605">
                  <a:extLst>
                    <a:ext uri="{9D8B030D-6E8A-4147-A177-3AD203B41FA5}">
                      <a16:colId xmlns:a16="http://schemas.microsoft.com/office/drawing/2014/main" val="360575612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045359448"/>
                    </a:ext>
                  </a:extLst>
                </a:gridCol>
                <a:gridCol w="694005">
                  <a:extLst>
                    <a:ext uri="{9D8B030D-6E8A-4147-A177-3AD203B41FA5}">
                      <a16:colId xmlns:a16="http://schemas.microsoft.com/office/drawing/2014/main" val="2710900112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648460963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2833923282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496258468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730836383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24263649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1914870638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2780901620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3393810631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754814675"/>
                    </a:ext>
                  </a:extLst>
                </a:gridCol>
                <a:gridCol w="819230">
                  <a:extLst>
                    <a:ext uri="{9D8B030D-6E8A-4147-A177-3AD203B41FA5}">
                      <a16:colId xmlns:a16="http://schemas.microsoft.com/office/drawing/2014/main" val="92330248"/>
                    </a:ext>
                  </a:extLst>
                </a:gridCol>
              </a:tblGrid>
              <a:tr h="430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Activity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Nov 2025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Dec 2025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Jan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Feb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Mar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Apr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May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Jun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Jul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Aug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Sep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Oct 2026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418759"/>
                  </a:ext>
                </a:extLst>
              </a:tr>
              <a:tr h="745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Required Analysis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726164"/>
                  </a:ext>
                </a:extLst>
              </a:tr>
              <a:tr h="745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System Design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662839"/>
                  </a:ext>
                </a:extLst>
              </a:tr>
              <a:tr h="573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Development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91352"/>
                  </a:ext>
                </a:extLst>
              </a:tr>
              <a:tr h="80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Testing and Evaluation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600758"/>
                  </a:ext>
                </a:extLst>
              </a:tr>
              <a:tr h="1089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Documentation and Submission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✔️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17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942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1C24-6C0F-0C78-B04C-CC04944F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8C422-1DBA-A88E-2091-C195CB182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98" y="1418301"/>
            <a:ext cx="10515600" cy="46672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K. Creswell and J. Creswell, </a:t>
            </a:r>
            <a:r>
              <a:rPr lang="en-US" sz="2600" i="1" dirty="0">
                <a:latin typeface="Arial" panose="020B0604020202020204" pitchFamily="34" charset="0"/>
                <a:cs typeface="Arial" panose="020B0604020202020204" pitchFamily="34" charset="0"/>
              </a:rPr>
              <a:t>Research Design: Qualitative, Quantitative, and Mixed Methods Approaches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5th ed. Thousand Oaks, CA, USA: Sage, 2018.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N. Robson, </a:t>
            </a:r>
            <a:r>
              <a:rPr lang="en-US" sz="2600" i="1" dirty="0">
                <a:latin typeface="Arial" panose="020B0604020202020204" pitchFamily="34" charset="0"/>
                <a:cs typeface="Arial" panose="020B0604020202020204" pitchFamily="34" charset="0"/>
              </a:rPr>
              <a:t>Designing and Conducting Survey Research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4th ed. London, UK: Sage Publications, 2018.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M. Porter and J.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Heppelmann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“How smart, connected products are transforming companies,” </a:t>
            </a:r>
            <a:r>
              <a:rPr lang="en-US" sz="2600" i="1" dirty="0">
                <a:latin typeface="Arial" panose="020B0604020202020204" pitchFamily="34" charset="0"/>
                <a:cs typeface="Arial" panose="020B0604020202020204" pitchFamily="34" charset="0"/>
              </a:rPr>
              <a:t>Harvard Business Review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vol. 93, no. 10, pp. 96–114, 2015.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ISO, “ISO/IEC 25010: Systems and software engineering — Systems and software Quality Requirements and Evaluation (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SQuaRE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),” International Organization for Standardization, 2011.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639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61CD-AA9C-0E1F-A75A-6C3CA7184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0428-AB14-2EE7-AA0C-F2F9375BD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400" b="1" dirty="0"/>
              <a:t>Thank You!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400" dirty="0"/>
              <a:t>We appreciate your attention.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400" b="1" dirty="0"/>
              <a:t>Questions are welcome.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302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1153</Words>
  <Application>Microsoft Office PowerPoint</Application>
  <PresentationFormat>Widescreen</PresentationFormat>
  <Paragraphs>174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Bahnschrift SemiBold</vt:lpstr>
      <vt:lpstr>Bahnschrift SemiBold SemiConden</vt:lpstr>
      <vt:lpstr>Calibri</vt:lpstr>
      <vt:lpstr>Calibri Light</vt:lpstr>
      <vt:lpstr>Wingdings</vt:lpstr>
      <vt:lpstr>Office Theme</vt:lpstr>
      <vt:lpstr>Global Multidimensional Talent Marketplace and Casting Management System.</vt:lpstr>
      <vt:lpstr>Table of Contents</vt:lpstr>
      <vt:lpstr>Research Background</vt:lpstr>
      <vt:lpstr>Research Background</vt:lpstr>
      <vt:lpstr>Problem Justification</vt:lpstr>
      <vt:lpstr>Problem Justification</vt:lpstr>
      <vt:lpstr>Research Question/s and Objective/s</vt:lpstr>
      <vt:lpstr>Significance of the Study </vt:lpstr>
      <vt:lpstr>Literature Review</vt:lpstr>
      <vt:lpstr>Literature Review</vt:lpstr>
      <vt:lpstr>Proposed Methodology</vt:lpstr>
      <vt:lpstr>Data collection and analysis</vt:lpstr>
      <vt:lpstr>Scope of the study</vt:lpstr>
      <vt:lpstr>Limitations of the study</vt:lpstr>
      <vt:lpstr>Timeline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Liyon Mishell</dc:creator>
  <cp:lastModifiedBy>Liyon Mishell</cp:lastModifiedBy>
  <cp:revision>10</cp:revision>
  <dcterms:created xsi:type="dcterms:W3CDTF">2026-02-24T04:56:18Z</dcterms:created>
  <dcterms:modified xsi:type="dcterms:W3CDTF">2026-02-24T13:27:27Z</dcterms:modified>
</cp:coreProperties>
</file>